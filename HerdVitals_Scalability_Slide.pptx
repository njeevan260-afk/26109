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4eb731490b4285" /><Relationship Type="http://schemas.openxmlformats.org/officeDocument/2006/relationships/extended-properties" Target="/docProps/app.xml" Id="Rafaba47cea5b4c68" /><Relationship Type="http://schemas.openxmlformats.org/officeDocument/2006/relationships/officeDocument" Target="/ppt/presentation.xml" Id="R1b6eb50bfe1f49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9ece975a4b4b43"/>
  </p:sldMasterIdLst>
  <p:notesMasterIdLst>
    <p:notesMasterId xmlns:r="http://schemas.openxmlformats.org/officeDocument/2006/relationships" r:id="R99da483a82434184"/>
  </p:notesMasterIdLst>
  <p:sldIdLst>
    <p:sldId xmlns:r="http://schemas.openxmlformats.org/officeDocument/2006/relationships" id="256" r:id="R1aa0fbf164f848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17a88889b0433c" /><Relationship Type="http://schemas.openxmlformats.org/officeDocument/2006/relationships/slideMaster" Target="/ppt/slideMasters/slideMaster1.xml" Id="Rf39ece975a4b4b43" /><Relationship Type="http://schemas.openxmlformats.org/officeDocument/2006/relationships/notesMaster" Target="/ppt/notesMasters/notesMaster1.xml" Id="R99da483a82434184" /><Relationship Type="http://schemas.openxmlformats.org/officeDocument/2006/relationships/presProps" Target="/ppt/presProps.xml" Id="Rdf00a1f45f6a466d" /><Relationship Type="http://schemas.openxmlformats.org/officeDocument/2006/relationships/tableStyles" Target="/ppt/tableStyles.xml" Id="R1ddfd3fa3ab747ba" /><Relationship Type="http://schemas.openxmlformats.org/officeDocument/2006/relationships/slide" Target="/ppt/slides/slide1.xml" Id="R1aa0fbf164f848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975e23c86e4c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4c7bcf8066464f" /><Relationship Type="http://schemas.openxmlformats.org/officeDocument/2006/relationships/notesMaster" Target="/ppt/notesMasters/notesMaster1.xml" Id="R6d4cf11ce3fa4b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Department of Animal Husbandry &amp; Dairying, Government of India: more than 8 crore rural households engaged in dairying. https://dahd.gov.in/sites/default/files/2024-10/RS2024.pdf</a:t>
            </a:r>
          </a:p>
          <a:p xmlns:a="http://schemas.openxmlformats.org/drawingml/2006/main">
            <a:r>
              <a:t>- National Dairy Development Board, Annual Report 2023-24: 1.72 crore cooperative members and 2.36 lakh dairy cooperative societies. https://www.nddb.coop/sites/default/files/pdfs/NDDB_AR_2023_24_Eng.pdf</a:t>
            </a:r>
          </a:p>
          <a:p xmlns:a="http://schemas.openxmlformats.org/drawingml/2006/main">
            <a:r>
              <a:t>- ₹3,000 per farm/year and 1% SOM are explicit planning assumptions for the pitch; replace with validated pricing and adoption targets when available.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50ad34fcad47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f86f4fca1e437b" /><Relationship Type="http://schemas.openxmlformats.org/officeDocument/2006/relationships/slideLayout" Target="/ppt/slideLayouts/slideLayout1.xml" Id="Rbec5d4353ff241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c5d4353ff241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7289d784c455d" /><Relationship Type="http://schemas.openxmlformats.org/officeDocument/2006/relationships/notesSlide" Target="/ppt/notesSlides/notesSlide1.xml" Id="R32286863fc6447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78EDC4-561A-4140-BE48-C405D10A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A scalable path to India’s dairy ecosystem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746E8FC-31B9-42E3-836D-00052FF9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7084"/>
                </a:solidFill>
              </a:defRPr>
            </a:pPr>
            <a:r>
              <a:rPr sz="1350">
                <a:solidFill>
                  <a:srgbClr val="567084"/>
                </a:solidFill>
              </a:rPr>
              <a:t>Bottom-up opportunity for HerdVitals — from an achievable beachhead to national reach</a:t>
            </a:r>
          </a:p>
        </p:txBody>
      </p:sp>
      <p:sp>
        <p:nvSpPr>
          <p:cNvPr id="3" name="brand-mark">
            <a:extLst xmlns:a="http://schemas.openxmlformats.org/drawingml/2006/main">
              <a:ext uri="{FF2B5EF4-FFF2-40B4-BE49-F238E27FC236}">
                <a16:creationId xmlns:a16="http://schemas.microsoft.com/office/drawing/2014/main" id="{0DF2492E-558F-4D09-B5B6-EC3273ED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906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HerdVitals</a:t>
            </a:r>
          </a:p>
        </p:txBody>
      </p:sp>
      <p:sp>
        <p:nvSpPr>
          <p:cNvPr id="4" name="tam-market">
            <a:extLst xmlns:a="http://schemas.openxmlformats.org/drawingml/2006/main">
              <a:ext uri="{FF2B5EF4-FFF2-40B4-BE49-F238E27FC236}">
                <a16:creationId xmlns:a16="http://schemas.microsoft.com/office/drawing/2014/main" id="{DF88E760-53C1-4EF7-BDE7-543B5BBE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4343400" cy="3790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EF0"/>
          </a:solidFill>
          <a:ln xmlns:a="http://schemas.openxmlformats.org/drawingml/2006/main" w="19050">
            <a:solidFill>
              <a:srgbClr val="8FC9CD"/>
            </a:solidFill>
            <a:prstDash val="solid"/>
          </a:ln>
        </p:spPr>
      </p:sp>
      <p:sp>
        <p:nvSpPr>
          <p:cNvPr id="5" name="sam-market">
            <a:extLst xmlns:a="http://schemas.openxmlformats.org/drawingml/2006/main">
              <a:ext uri="{FF2B5EF4-FFF2-40B4-BE49-F238E27FC236}">
                <a16:creationId xmlns:a16="http://schemas.microsoft.com/office/drawing/2014/main" id="{8762736F-D3AB-48D2-8687-72F83804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32575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CAD0"/>
          </a:solidFill>
          <a:ln xmlns:a="http://schemas.openxmlformats.org/drawingml/2006/main" w="19050">
            <a:solidFill>
              <a:srgbClr val="54AFB8"/>
            </a:solidFill>
            <a:prstDash val="solid"/>
          </a:ln>
        </p:spPr>
      </p:sp>
      <p:sp>
        <p:nvSpPr>
          <p:cNvPr id="6" name="som-market">
            <a:extLst xmlns:a="http://schemas.openxmlformats.org/drawingml/2006/main">
              <a:ext uri="{FF2B5EF4-FFF2-40B4-BE49-F238E27FC236}">
                <a16:creationId xmlns:a16="http://schemas.microsoft.com/office/drawing/2014/main" id="{56735765-EBB3-4C28-9376-BBC46ED3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24175"/>
            <a:ext cx="192405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19050">
            <a:solidFill>
              <a:srgbClr val="075E5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am-label">
            <a:extLst xmlns:a="http://schemas.openxmlformats.org/drawingml/2006/main">
              <a:ext uri="{FF2B5EF4-FFF2-40B4-BE49-F238E27FC236}">
                <a16:creationId xmlns:a16="http://schemas.microsoft.com/office/drawing/2014/main" id="{DDF3B0C1-3A40-4987-A29F-F82BFC33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907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C59"/>
                </a:solidFill>
              </a:defRPr>
            </a:pPr>
            <a:r>
              <a:rPr sz="1650" b="1">
                <a:solidFill>
                  <a:srgbClr val="0B4C59"/>
                </a:solidFill>
              </a:rPr>
              <a:t>TAM</a:t>
            </a:r>
          </a:p>
        </p:txBody>
      </p:sp>
      <p:sp>
        <p:nvSpPr>
          <p:cNvPr id="8" name="tam-value">
            <a:extLst xmlns:a="http://schemas.openxmlformats.org/drawingml/2006/main">
              <a:ext uri="{FF2B5EF4-FFF2-40B4-BE49-F238E27FC236}">
                <a16:creationId xmlns:a16="http://schemas.microsoft.com/office/drawing/2014/main" id="{EC64D4AE-263D-41DD-92B8-0E8EA068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478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8 crore households</a:t>
            </a:r>
          </a:p>
        </p:txBody>
      </p:sp>
      <p:sp>
        <p:nvSpPr>
          <p:cNvPr id="9" name="sam-label">
            <a:extLst xmlns:a="http://schemas.openxmlformats.org/drawingml/2006/main">
              <a:ext uri="{FF2B5EF4-FFF2-40B4-BE49-F238E27FC236}">
                <a16:creationId xmlns:a16="http://schemas.microsoft.com/office/drawing/2014/main" id="{87EE2B5F-D63F-42BB-B7D2-7BFD01A3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3E48"/>
                </a:solidFill>
              </a:defRPr>
            </a:pPr>
            <a:r>
              <a:rPr sz="1575" b="1">
                <a:solidFill>
                  <a:srgbClr val="083E48"/>
                </a:solidFill>
              </a:rPr>
              <a:t>SAM</a:t>
            </a:r>
          </a:p>
        </p:txBody>
      </p:sp>
      <p:sp>
        <p:nvSpPr>
          <p:cNvPr id="10" name="sam-value">
            <a:extLst xmlns:a="http://schemas.openxmlformats.org/drawingml/2006/main">
              <a:ext uri="{FF2B5EF4-FFF2-40B4-BE49-F238E27FC236}">
                <a16:creationId xmlns:a16="http://schemas.microsoft.com/office/drawing/2014/main" id="{1F948D4F-4C5B-4599-BFE9-53BA717E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714625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1.72 crore producers</a:t>
            </a:r>
          </a:p>
        </p:txBody>
      </p:sp>
      <p:sp>
        <p:nvSpPr>
          <p:cNvPr id="11" name="som-label">
            <a:extLst xmlns:a="http://schemas.openxmlformats.org/drawingml/2006/main">
              <a:ext uri="{FF2B5EF4-FFF2-40B4-BE49-F238E27FC236}">
                <a16:creationId xmlns:a16="http://schemas.microsoft.com/office/drawing/2014/main" id="{26F8F10E-D65A-4561-B6C4-AD41A17E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051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SOM</a:t>
            </a:r>
          </a:p>
        </p:txBody>
      </p:sp>
      <p:sp>
        <p:nvSpPr>
          <p:cNvPr id="12" name="som-value">
            <a:extLst xmlns:a="http://schemas.openxmlformats.org/drawingml/2006/main">
              <a:ext uri="{FF2B5EF4-FFF2-40B4-BE49-F238E27FC236}">
                <a16:creationId xmlns:a16="http://schemas.microsoft.com/office/drawing/2014/main" id="{8D2D46B3-6584-410A-A7E1-51FEDCC1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099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1.72 lakh farms</a:t>
            </a:r>
          </a:p>
        </p:txBody>
      </p:sp>
      <p:sp>
        <p:nvSpPr>
          <p:cNvPr id="13" name="som-share">
            <a:extLst xmlns:a="http://schemas.openxmlformats.org/drawingml/2006/main">
              <a:ext uri="{FF2B5EF4-FFF2-40B4-BE49-F238E27FC236}">
                <a16:creationId xmlns:a16="http://schemas.microsoft.com/office/drawing/2014/main" id="{86504F40-2524-4314-9564-8476AD97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147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7F3F1"/>
                </a:solidFill>
              </a:defRPr>
            </a:pPr>
            <a:r>
              <a:rPr sz="1125">
                <a:solidFill>
                  <a:srgbClr val="D7F3F1"/>
                </a:solidFill>
              </a:rPr>
              <a:t>1% of SAM</a:t>
            </a:r>
          </a:p>
        </p:txBody>
      </p:sp>
      <p:sp>
        <p:nvSpPr>
          <p:cNvPr id="14" name="market-caption">
            <a:extLst xmlns:a="http://schemas.openxmlformats.org/drawingml/2006/main">
              <a:ext uri="{FF2B5EF4-FFF2-40B4-BE49-F238E27FC236}">
                <a16:creationId xmlns:a16="http://schemas.microsoft.com/office/drawing/2014/main" id="{B3064CCC-FBA7-4AB5-BD56-2548F429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530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96879"/>
                </a:solidFill>
              </a:defRPr>
            </a:pPr>
            <a:r>
              <a:rPr sz="1275" b="1">
                <a:solidFill>
                  <a:srgbClr val="496879"/>
                </a:solidFill>
              </a:rPr>
              <a:t>Illustrative annual platform value</a:t>
            </a:r>
          </a:p>
          <a:p xmlns:a="http://schemas.openxmlformats.org/drawingml/2006/main">
            <a:pPr algn="ctr">
              <a:defRPr sz="1275" b="1">
                <a:solidFill>
                  <a:srgbClr val="496879"/>
                </a:solidFill>
              </a:defRPr>
            </a:pPr>
            <a:r>
              <a:rPr sz="1275" b="1">
                <a:solidFill>
                  <a:srgbClr val="496879"/>
                </a:solidFill>
              </a:rPr>
              <a:t>₹3,000 per farm</a:t>
            </a:r>
          </a:p>
        </p:txBody>
      </p:sp>
      <p:sp>
        <p:nvSpPr>
          <p:cNvPr id="15" name="tam-tag">
            <a:extLst xmlns:a="http://schemas.openxmlformats.org/drawingml/2006/main">
              <a:ext uri="{FF2B5EF4-FFF2-40B4-BE49-F238E27FC236}">
                <a16:creationId xmlns:a16="http://schemas.microsoft.com/office/drawing/2014/main" id="{7C9347EC-A39F-4BE9-867E-BF6C7AF1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76400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8FA3"/>
                </a:solidFill>
              </a:defRPr>
            </a:pPr>
            <a:r>
              <a:rPr sz="1200" b="1">
                <a:solidFill>
                  <a:srgbClr val="2B8FA3"/>
                </a:solidFill>
              </a:rPr>
              <a:t>TAM</a:t>
            </a:r>
          </a:p>
        </p:txBody>
      </p:sp>
      <p:sp>
        <p:nvSpPr>
          <p:cNvPr id="16" name="tam-accent">
            <a:extLst xmlns:a="http://schemas.openxmlformats.org/drawingml/2006/main">
              <a:ext uri="{FF2B5EF4-FFF2-40B4-BE49-F238E27FC236}">
                <a16:creationId xmlns:a16="http://schemas.microsoft.com/office/drawing/2014/main" id="{1AF9EA73-71F7-4C05-8613-62F36056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B8FA3"/>
            </a:solidFill>
            <a:prstDash val="solid"/>
          </a:ln>
        </p:spPr>
      </p:sp>
      <p:sp>
        <p:nvSpPr>
          <p:cNvPr id="17" name="tam-heading">
            <a:extLst xmlns:a="http://schemas.openxmlformats.org/drawingml/2006/main">
              <a:ext uri="{FF2B5EF4-FFF2-40B4-BE49-F238E27FC236}">
                <a16:creationId xmlns:a16="http://schemas.microsoft.com/office/drawing/2014/main" id="{FE71C35C-7DF8-430B-8308-C407080B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71700"/>
            <a:ext cx="2009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All dairy households</a:t>
            </a:r>
          </a:p>
        </p:txBody>
      </p:sp>
      <p:sp>
        <p:nvSpPr>
          <p:cNvPr id="18" name="tam-metric">
            <a:extLst xmlns:a="http://schemas.openxmlformats.org/drawingml/2006/main">
              <a:ext uri="{FF2B5EF4-FFF2-40B4-BE49-F238E27FC236}">
                <a16:creationId xmlns:a16="http://schemas.microsoft.com/office/drawing/2014/main" id="{485E5C06-58E7-4068-A29E-0B912571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0375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B8FA3"/>
                </a:solidFill>
              </a:defRPr>
            </a:pPr>
            <a:r>
              <a:rPr sz="2175" b="1">
                <a:solidFill>
                  <a:srgbClr val="2B8FA3"/>
                </a:solidFill>
              </a:rPr>
              <a:t>₹24,000 Cr</a:t>
            </a:r>
          </a:p>
        </p:txBody>
      </p:sp>
      <p:sp>
        <p:nvSpPr>
          <p:cNvPr id="19" name="tam-suffix">
            <a:extLst xmlns:a="http://schemas.openxmlformats.org/drawingml/2006/main">
              <a:ext uri="{FF2B5EF4-FFF2-40B4-BE49-F238E27FC236}">
                <a16:creationId xmlns:a16="http://schemas.microsoft.com/office/drawing/2014/main" id="{4850EE1A-4215-4D43-8144-6464A8B3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29000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A7184"/>
                </a:solidFill>
              </a:defRPr>
            </a:pPr>
            <a:r>
              <a:rPr sz="1200" b="1">
                <a:solidFill>
                  <a:srgbClr val="5A7184"/>
                </a:solidFill>
              </a:rPr>
              <a:t>annual potential</a:t>
            </a:r>
          </a:p>
        </p:txBody>
      </p:sp>
      <p:sp>
        <p:nvSpPr>
          <p:cNvPr id="20" name="tam-body">
            <a:extLst xmlns:a="http://schemas.openxmlformats.org/drawingml/2006/main">
              <a:ext uri="{FF2B5EF4-FFF2-40B4-BE49-F238E27FC236}">
                <a16:creationId xmlns:a16="http://schemas.microsoft.com/office/drawing/2014/main" id="{936C4656-825D-483F-8EBA-7B83241C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86200"/>
            <a:ext cx="2009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F586B"/>
                </a:solidFill>
              </a:defRPr>
            </a:pPr>
            <a:r>
              <a:rPr sz="1275">
                <a:solidFill>
                  <a:srgbClr val="3F586B"/>
                </a:solidFill>
              </a:rPr>
              <a:t>More than 8 crore rural households participate in dairying across India.</a:t>
            </a:r>
          </a:p>
        </p:txBody>
      </p:sp>
      <p:sp>
        <p:nvSpPr>
          <p:cNvPr id="21" name="column-divider-1">
            <a:extLst xmlns:a="http://schemas.openxmlformats.org/drawingml/2006/main">
              <a:ext uri="{FF2B5EF4-FFF2-40B4-BE49-F238E27FC236}">
                <a16:creationId xmlns:a16="http://schemas.microsoft.com/office/drawing/2014/main" id="{0A396B56-98D6-4E8C-A9A1-602C83A0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764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6E0E8"/>
            </a:solidFill>
            <a:prstDash val="solid"/>
          </a:ln>
        </p:spPr>
      </p:sp>
      <p:sp>
        <p:nvSpPr>
          <p:cNvPr id="22" name="sam-tag">
            <a:extLst xmlns:a="http://schemas.openxmlformats.org/drawingml/2006/main">
              <a:ext uri="{FF2B5EF4-FFF2-40B4-BE49-F238E27FC236}">
                <a16:creationId xmlns:a16="http://schemas.microsoft.com/office/drawing/2014/main" id="{60A33C7E-6200-451B-812C-0A2DB753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676400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8C89"/>
                </a:solidFill>
              </a:defRPr>
            </a:pPr>
            <a:r>
              <a:rPr sz="1200" b="1">
                <a:solidFill>
                  <a:srgbClr val="168C89"/>
                </a:solidFill>
              </a:rPr>
              <a:t>SAM</a:t>
            </a:r>
          </a:p>
        </p:txBody>
      </p:sp>
      <p:sp>
        <p:nvSpPr>
          <p:cNvPr id="23" name="sam-accent">
            <a:extLst xmlns:a="http://schemas.openxmlformats.org/drawingml/2006/main">
              <a:ext uri="{FF2B5EF4-FFF2-40B4-BE49-F238E27FC236}">
                <a16:creationId xmlns:a16="http://schemas.microsoft.com/office/drawing/2014/main" id="{118F433E-38F1-498E-88A8-8EBB6C98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C89"/>
            </a:solidFill>
            <a:prstDash val="solid"/>
          </a:ln>
        </p:spPr>
      </p:sp>
      <p:sp>
        <p:nvSpPr>
          <p:cNvPr id="24" name="sam-heading">
            <a:extLst xmlns:a="http://schemas.openxmlformats.org/drawingml/2006/main">
              <a:ext uri="{FF2B5EF4-FFF2-40B4-BE49-F238E27FC236}">
                <a16:creationId xmlns:a16="http://schemas.microsoft.com/office/drawing/2014/main" id="{B075AA87-037C-414F-B4E2-912C9398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171700"/>
            <a:ext cx="2009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Cooperative network</a:t>
            </a:r>
          </a:p>
        </p:txBody>
      </p:sp>
      <p:sp>
        <p:nvSpPr>
          <p:cNvPr id="25" name="sam-metric">
            <a:extLst xmlns:a="http://schemas.openxmlformats.org/drawingml/2006/main">
              <a:ext uri="{FF2B5EF4-FFF2-40B4-BE49-F238E27FC236}">
                <a16:creationId xmlns:a16="http://schemas.microsoft.com/office/drawing/2014/main" id="{93A2DDCF-8D1E-46F4-99F2-AD65EE93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000375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8C89"/>
                </a:solidFill>
              </a:defRPr>
            </a:pPr>
            <a:r>
              <a:rPr sz="2175" b="1">
                <a:solidFill>
                  <a:srgbClr val="168C89"/>
                </a:solidFill>
              </a:rPr>
              <a:t>₹5,160 Cr</a:t>
            </a:r>
          </a:p>
        </p:txBody>
      </p:sp>
      <p:sp>
        <p:nvSpPr>
          <p:cNvPr id="26" name="sam-suffix">
            <a:extLst xmlns:a="http://schemas.openxmlformats.org/drawingml/2006/main">
              <a:ext uri="{FF2B5EF4-FFF2-40B4-BE49-F238E27FC236}">
                <a16:creationId xmlns:a16="http://schemas.microsoft.com/office/drawing/2014/main" id="{E42F4127-42BA-4BBD-9F6F-21C371B0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429000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A7184"/>
                </a:solidFill>
              </a:defRPr>
            </a:pPr>
            <a:r>
              <a:rPr sz="1200" b="1">
                <a:solidFill>
                  <a:srgbClr val="5A7184"/>
                </a:solidFill>
              </a:rPr>
              <a:t>serviceable value</a:t>
            </a:r>
          </a:p>
        </p:txBody>
      </p:sp>
      <p:sp>
        <p:nvSpPr>
          <p:cNvPr id="27" name="sam-body">
            <a:extLst xmlns:a="http://schemas.openxmlformats.org/drawingml/2006/main">
              <a:ext uri="{FF2B5EF4-FFF2-40B4-BE49-F238E27FC236}">
                <a16:creationId xmlns:a16="http://schemas.microsoft.com/office/drawing/2014/main" id="{8EC2AD9F-7D58-43B1-BB38-AB63A9C0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886200"/>
            <a:ext cx="2009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F586B"/>
                </a:solidFill>
              </a:defRPr>
            </a:pPr>
            <a:r>
              <a:rPr sz="1275">
                <a:solidFill>
                  <a:srgbClr val="3F586B"/>
                </a:solidFill>
              </a:rPr>
              <a:t>1.72 crore producers are already connected through 2.36 lakh dairy societies.</a:t>
            </a:r>
          </a:p>
        </p:txBody>
      </p:sp>
      <p:sp>
        <p:nvSpPr>
          <p:cNvPr id="28" name="column-divider-2">
            <a:extLst xmlns:a="http://schemas.openxmlformats.org/drawingml/2006/main">
              <a:ext uri="{FF2B5EF4-FFF2-40B4-BE49-F238E27FC236}">
                <a16:creationId xmlns:a16="http://schemas.microsoft.com/office/drawing/2014/main" id="{C05FFE83-5879-4054-BBD7-6C88D74A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6764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6E0E8"/>
            </a:solidFill>
            <a:prstDash val="solid"/>
          </a:ln>
        </p:spPr>
      </p:sp>
      <p:sp>
        <p:nvSpPr>
          <p:cNvPr id="29" name="som-tag">
            <a:extLst xmlns:a="http://schemas.openxmlformats.org/drawingml/2006/main">
              <a:ext uri="{FF2B5EF4-FFF2-40B4-BE49-F238E27FC236}">
                <a16:creationId xmlns:a16="http://schemas.microsoft.com/office/drawing/2014/main" id="{CFDFA86A-8B97-4F36-B84E-4A44BF81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76400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8C45"/>
                </a:solidFill>
              </a:defRPr>
            </a:pPr>
            <a:r>
              <a:rPr sz="1200" b="1">
                <a:solidFill>
                  <a:srgbClr val="F28C45"/>
                </a:solidFill>
              </a:rPr>
              <a:t>SOM</a:t>
            </a:r>
          </a:p>
        </p:txBody>
      </p:sp>
      <p:sp>
        <p:nvSpPr>
          <p:cNvPr id="30" name="som-accent">
            <a:extLst xmlns:a="http://schemas.openxmlformats.org/drawingml/2006/main">
              <a:ext uri="{FF2B5EF4-FFF2-40B4-BE49-F238E27FC236}">
                <a16:creationId xmlns:a16="http://schemas.microsoft.com/office/drawing/2014/main" id="{26940B1A-C120-4BFE-8748-7140778B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8C45"/>
            </a:solidFill>
            <a:prstDash val="solid"/>
          </a:ln>
        </p:spPr>
      </p:sp>
      <p:sp>
        <p:nvSpPr>
          <p:cNvPr id="31" name="som-heading">
            <a:extLst xmlns:a="http://schemas.openxmlformats.org/drawingml/2006/main">
              <a:ext uri="{FF2B5EF4-FFF2-40B4-BE49-F238E27FC236}">
                <a16:creationId xmlns:a16="http://schemas.microsoft.com/office/drawing/2014/main" id="{D792E2A8-B070-454F-9002-F68929DC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71700"/>
            <a:ext cx="2009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Near-term beachhead</a:t>
            </a:r>
          </a:p>
        </p:txBody>
      </p:sp>
      <p:sp>
        <p:nvSpPr>
          <p:cNvPr id="32" name="som-metric">
            <a:extLst xmlns:a="http://schemas.openxmlformats.org/drawingml/2006/main">
              <a:ext uri="{FF2B5EF4-FFF2-40B4-BE49-F238E27FC236}">
                <a16:creationId xmlns:a16="http://schemas.microsoft.com/office/drawing/2014/main" id="{B58A5E7B-8E70-405D-8E94-A1937994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00375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8C45"/>
                </a:solidFill>
              </a:defRPr>
            </a:pPr>
            <a:r>
              <a:rPr sz="2175" b="1">
                <a:solidFill>
                  <a:srgbClr val="F28C45"/>
                </a:solidFill>
              </a:rPr>
              <a:t>₹51.6 Cr</a:t>
            </a:r>
          </a:p>
        </p:txBody>
      </p:sp>
      <p:sp>
        <p:nvSpPr>
          <p:cNvPr id="33" name="som-suffix">
            <a:extLst xmlns:a="http://schemas.openxmlformats.org/drawingml/2006/main">
              <a:ext uri="{FF2B5EF4-FFF2-40B4-BE49-F238E27FC236}">
                <a16:creationId xmlns:a16="http://schemas.microsoft.com/office/drawing/2014/main" id="{13E67973-9E03-4DE7-ADB2-64367243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0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A7184"/>
                </a:solidFill>
              </a:defRPr>
            </a:pPr>
            <a:r>
              <a:rPr sz="1200" b="1">
                <a:solidFill>
                  <a:srgbClr val="5A7184"/>
                </a:solidFill>
              </a:rPr>
              <a:t>illustrative ARR</a:t>
            </a:r>
          </a:p>
        </p:txBody>
      </p:sp>
      <p:sp>
        <p:nvSpPr>
          <p:cNvPr id="34" name="som-body">
            <a:extLst xmlns:a="http://schemas.openxmlformats.org/drawingml/2006/main">
              <a:ext uri="{FF2B5EF4-FFF2-40B4-BE49-F238E27FC236}">
                <a16:creationId xmlns:a16="http://schemas.microsoft.com/office/drawing/2014/main" id="{6222CF80-F05B-4C04-9084-46FC4003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86200"/>
            <a:ext cx="2009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F586B"/>
                </a:solidFill>
              </a:defRPr>
            </a:pPr>
            <a:r>
              <a:rPr sz="1275">
                <a:solidFill>
                  <a:srgbClr val="3F586B"/>
                </a:solidFill>
              </a:rPr>
              <a:t>A 1% share of SAM equals 1.72 lakh farms — scalable through cooperative and veterinary partners.</a:t>
            </a:r>
          </a:p>
        </p:txBody>
      </p:sp>
      <p:sp>
        <p:nvSpPr>
          <p:cNvPr id="35" name="assumption-ribbon">
            <a:extLst xmlns:a="http://schemas.openxmlformats.org/drawingml/2006/main">
              <a:ext uri="{FF2B5EF4-FFF2-40B4-BE49-F238E27FC236}">
                <a16:creationId xmlns:a16="http://schemas.microsoft.com/office/drawing/2014/main" id="{75283C75-E752-4EBE-90E1-83E64B3A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53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4"/>
          </a:solidFill>
          <a:ln xmlns:a="http://schemas.openxmlformats.org/drawingml/2006/main" w="9525">
            <a:solidFill>
              <a:srgbClr val="C8DE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315C63"/>
                </a:solidFill>
              </a:defRPr>
            </a:pPr>
            <a:r>
              <a:rPr sz="1200">
                <a:solidFill>
                  <a:srgbClr val="315C63"/>
                </a:solidFill>
              </a:rPr>
              <a:t>Planning assumptions: ₹3,000 per farm/year • SOM = 1% of cooperative-connected producers • Values are illustrative, not booked revenue</a:t>
            </a:r>
          </a:p>
        </p:txBody>
      </p:sp>
      <p:sp>
        <p:nvSpPr>
          <p:cNvPr id="3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2C3CFC6-F2E7-41A2-840E-3998258F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18697"/>
                </a:solidFill>
              </a:defRPr>
            </a:pPr>
            <a:r>
              <a:rPr sz="825">
                <a:solidFill>
                  <a:srgbClr val="718697"/>
                </a:solidFill>
              </a:rPr>
              <a:t>Sources: DAHD (8+ crore dairy households); NDDB Annual Report 2023–24 (1.72 crore members, 2.36 lakh societies)</a:t>
            </a:r>
          </a:p>
        </p:txBody>
      </p:sp>
    </p:spTree>
    <p:extLst>
      <p:ext uri="{BB962C8B-B14F-4D97-AF65-F5344CB8AC3E}">
        <p14:creationId xmlns:p14="http://schemas.microsoft.com/office/powerpoint/2010/main" val="1535340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2026-09-02T23:51:58.3780000Z</dcterms:created>
  <dcterms:modified xsi:type="dcterms:W3CDTF">2026-09-02T23:51:58.3780000Z</dcterms:modified>
</coreProperties>
</file>